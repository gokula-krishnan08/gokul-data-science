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Poppins Bold Italics" charset="1" panose="00000800000000000000"/>
      <p:regular r:id="rId23"/>
    </p:embeddedFont>
    <p:embeddedFont>
      <p:font typeface="Canva Sans Bold" charset="1" panose="020B08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611945">
            <a:off x="14458950" y="4723039"/>
            <a:ext cx="7658100" cy="5426529"/>
            <a:chOff x="0" y="0"/>
            <a:chExt cx="2016948" cy="1429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948" cy="1429209"/>
            </a:xfrm>
            <a:custGeom>
              <a:avLst/>
              <a:gdLst/>
              <a:ahLst/>
              <a:cxnLst/>
              <a:rect r="r" b="b" t="t" l="l"/>
              <a:pathLst>
                <a:path h="1429209" w="2016948">
                  <a:moveTo>
                    <a:pt x="51558" y="0"/>
                  </a:moveTo>
                  <a:lnTo>
                    <a:pt x="1965390" y="0"/>
                  </a:lnTo>
                  <a:cubicBezTo>
                    <a:pt x="1979064" y="0"/>
                    <a:pt x="1992178" y="5432"/>
                    <a:pt x="2001847" y="15101"/>
                  </a:cubicBezTo>
                  <a:cubicBezTo>
                    <a:pt x="2011516" y="24770"/>
                    <a:pt x="2016948" y="37884"/>
                    <a:pt x="2016948" y="51558"/>
                  </a:cubicBezTo>
                  <a:lnTo>
                    <a:pt x="2016948" y="1377651"/>
                  </a:lnTo>
                  <a:cubicBezTo>
                    <a:pt x="2016948" y="1391325"/>
                    <a:pt x="2011516" y="1404439"/>
                    <a:pt x="2001847" y="1414108"/>
                  </a:cubicBezTo>
                  <a:cubicBezTo>
                    <a:pt x="1992178" y="1423777"/>
                    <a:pt x="1979064" y="1429209"/>
                    <a:pt x="1965390" y="1429209"/>
                  </a:cubicBezTo>
                  <a:lnTo>
                    <a:pt x="51558" y="1429209"/>
                  </a:lnTo>
                  <a:cubicBezTo>
                    <a:pt x="37884" y="1429209"/>
                    <a:pt x="24770" y="1423777"/>
                    <a:pt x="15101" y="1414108"/>
                  </a:cubicBezTo>
                  <a:cubicBezTo>
                    <a:pt x="5432" y="1404439"/>
                    <a:pt x="0" y="1391325"/>
                    <a:pt x="0" y="1377651"/>
                  </a:cubicBezTo>
                  <a:lnTo>
                    <a:pt x="0" y="51558"/>
                  </a:lnTo>
                  <a:cubicBezTo>
                    <a:pt x="0" y="37884"/>
                    <a:pt x="5432" y="24770"/>
                    <a:pt x="15101" y="15101"/>
                  </a:cubicBezTo>
                  <a:cubicBezTo>
                    <a:pt x="24770" y="5432"/>
                    <a:pt x="37884" y="0"/>
                    <a:pt x="51558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2016948" cy="176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11945">
            <a:off x="-614581" y="-1866767"/>
            <a:ext cx="3031341" cy="2798456"/>
            <a:chOff x="0" y="0"/>
            <a:chExt cx="798378" cy="737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8378" cy="737042"/>
            </a:xfrm>
            <a:custGeom>
              <a:avLst/>
              <a:gdLst/>
              <a:ahLst/>
              <a:cxnLst/>
              <a:rect r="r" b="b" t="t" l="l"/>
              <a:pathLst>
                <a:path h="737042" w="798378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11945">
            <a:off x="12055325" y="9566947"/>
            <a:ext cx="3031341" cy="2798456"/>
            <a:chOff x="0" y="0"/>
            <a:chExt cx="798378" cy="7370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8378" cy="737042"/>
            </a:xfrm>
            <a:custGeom>
              <a:avLst/>
              <a:gdLst/>
              <a:ahLst/>
              <a:cxnLst/>
              <a:rect r="r" b="b" t="t" l="l"/>
              <a:pathLst>
                <a:path h="737042" w="798378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011342" y="6140237"/>
            <a:ext cx="8918179" cy="19050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-2611945">
            <a:off x="12744473" y="42362"/>
            <a:ext cx="8101900" cy="3702724"/>
            <a:chOff x="0" y="0"/>
            <a:chExt cx="2133834" cy="9752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11945">
            <a:off x="10808920" y="-3972270"/>
            <a:ext cx="8101900" cy="3702724"/>
            <a:chOff x="0" y="0"/>
            <a:chExt cx="2133834" cy="9752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611945">
            <a:off x="-6128725" y="8307085"/>
            <a:ext cx="8101900" cy="3702724"/>
            <a:chOff x="0" y="0"/>
            <a:chExt cx="2133834" cy="9752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963666" y="1074288"/>
            <a:ext cx="727419" cy="727419"/>
          </a:xfrm>
          <a:custGeom>
            <a:avLst/>
            <a:gdLst/>
            <a:ahLst/>
            <a:cxnLst/>
            <a:rect r="r" b="b" t="t" l="l"/>
            <a:pathLst>
              <a:path h="727419" w="727419">
                <a:moveTo>
                  <a:pt x="0" y="0"/>
                </a:moveTo>
                <a:lnTo>
                  <a:pt x="727419" y="0"/>
                </a:lnTo>
                <a:lnTo>
                  <a:pt x="727419" y="727419"/>
                </a:lnTo>
                <a:lnTo>
                  <a:pt x="0" y="727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011301" y="3183309"/>
            <a:ext cx="9619726" cy="175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22"/>
              </a:lnSpc>
            </a:pPr>
            <a:r>
              <a:rPr lang="en-US" sz="973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18</a:t>
            </a:r>
            <a:r>
              <a:rPr lang="en-US" sz="973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</a:t>
            </a:r>
            <a:r>
              <a:rPr lang="en-US" sz="973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Lok Sabha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11301" y="4853105"/>
            <a:ext cx="8918220" cy="117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9"/>
              </a:lnSpc>
            </a:pPr>
            <a:r>
              <a:rPr lang="en-US" sz="8322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Election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11301" y="7293429"/>
            <a:ext cx="5915739" cy="90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8"/>
              </a:lnSpc>
            </a:pPr>
            <a:r>
              <a:rPr lang="en-US" sz="5056" spc="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Gokula Krishnan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34373" y="1275233"/>
            <a:ext cx="4471732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Power BI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8249399" y="1316288"/>
            <a:ext cx="12583451" cy="6795882"/>
            <a:chOff x="0" y="0"/>
            <a:chExt cx="3314160" cy="17898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789862"/>
            </a:xfrm>
            <a:custGeom>
              <a:avLst/>
              <a:gdLst/>
              <a:ahLst/>
              <a:cxnLst/>
              <a:rect r="r" b="b" t="t" l="l"/>
              <a:pathLst>
                <a:path h="1789862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758484"/>
                  </a:lnTo>
                  <a:cubicBezTo>
                    <a:pt x="3314160" y="1775814"/>
                    <a:pt x="3300112" y="1789862"/>
                    <a:pt x="3282783" y="1789862"/>
                  </a:cubicBezTo>
                  <a:lnTo>
                    <a:pt x="31378" y="1789862"/>
                  </a:lnTo>
                  <a:cubicBezTo>
                    <a:pt x="14048" y="1789862"/>
                    <a:pt x="0" y="1775814"/>
                    <a:pt x="0" y="1758484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12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28400" y="1493268"/>
            <a:ext cx="6830900" cy="7300465"/>
            <a:chOff x="0" y="0"/>
            <a:chExt cx="1799085" cy="1922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9085" cy="1922756"/>
            </a:xfrm>
            <a:custGeom>
              <a:avLst/>
              <a:gdLst/>
              <a:ahLst/>
              <a:cxnLst/>
              <a:rect r="r" b="b" t="t" l="l"/>
              <a:pathLst>
                <a:path h="1922756" w="1799085">
                  <a:moveTo>
                    <a:pt x="57802" y="0"/>
                  </a:moveTo>
                  <a:lnTo>
                    <a:pt x="1741283" y="0"/>
                  </a:lnTo>
                  <a:cubicBezTo>
                    <a:pt x="1756613" y="0"/>
                    <a:pt x="1771315" y="6090"/>
                    <a:pt x="1782155" y="16930"/>
                  </a:cubicBezTo>
                  <a:cubicBezTo>
                    <a:pt x="1792995" y="27770"/>
                    <a:pt x="1799085" y="42472"/>
                    <a:pt x="1799085" y="57802"/>
                  </a:cubicBezTo>
                  <a:lnTo>
                    <a:pt x="1799085" y="1864955"/>
                  </a:lnTo>
                  <a:cubicBezTo>
                    <a:pt x="1799085" y="1896878"/>
                    <a:pt x="1773206" y="1922756"/>
                    <a:pt x="1741283" y="1922756"/>
                  </a:cubicBezTo>
                  <a:lnTo>
                    <a:pt x="57802" y="1922756"/>
                  </a:lnTo>
                  <a:cubicBezTo>
                    <a:pt x="25879" y="1922756"/>
                    <a:pt x="0" y="1896878"/>
                    <a:pt x="0" y="1864955"/>
                  </a:cubicBezTo>
                  <a:lnTo>
                    <a:pt x="0" y="57802"/>
                  </a:lnTo>
                  <a:cubicBezTo>
                    <a:pt x="0" y="25879"/>
                    <a:pt x="25879" y="0"/>
                    <a:pt x="57802" y="0"/>
                  </a:cubicBezTo>
                  <a:close/>
                </a:path>
              </a:pathLst>
            </a:custGeom>
            <a:solidFill>
              <a:srgbClr val="8D2B2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799085" cy="2256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2185362" y="3210262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804860" y="1888814"/>
            <a:ext cx="6077981" cy="6509372"/>
            <a:chOff x="0" y="0"/>
            <a:chExt cx="787019" cy="8428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019" cy="842878"/>
            </a:xfrm>
            <a:custGeom>
              <a:avLst/>
              <a:gdLst/>
              <a:ahLst/>
              <a:cxnLst/>
              <a:rect r="r" b="b" t="t" l="l"/>
              <a:pathLst>
                <a:path h="842878" w="787019">
                  <a:moveTo>
                    <a:pt x="0" y="0"/>
                  </a:moveTo>
                  <a:lnTo>
                    <a:pt x="787019" y="0"/>
                  </a:lnTo>
                  <a:lnTo>
                    <a:pt x="787019" y="842878"/>
                  </a:lnTo>
                  <a:lnTo>
                    <a:pt x="0" y="842878"/>
                  </a:lnTo>
                  <a:close/>
                </a:path>
              </a:pathLst>
            </a:custGeom>
            <a:blipFill>
              <a:blip r:embed="rId2"/>
              <a:stretch>
                <a:fillRect l="-20008" t="0" r="-40637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15297" y="1143000"/>
            <a:ext cx="3408672" cy="7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5297" y="2007880"/>
            <a:ext cx="6760254" cy="101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304" y="7237833"/>
            <a:ext cx="4300556" cy="259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29" indent="-205115" lvl="1">
              <a:lnSpc>
                <a:spcPts val="2565"/>
              </a:lnSpc>
              <a:buFont typeface="Arial"/>
              <a:buChar char="•"/>
            </a:pPr>
            <a:r>
              <a:rPr lang="en-US" sz="1900" spc="5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Constituency-wise Election Details</a:t>
            </a:r>
          </a:p>
          <a:p>
            <a:pPr algn="l" marL="410229" indent="-205115" lvl="1">
              <a:lnSpc>
                <a:spcPts val="2565"/>
              </a:lnSpc>
              <a:buFont typeface="Arial"/>
              <a:buChar char="•"/>
            </a:pPr>
            <a:r>
              <a:rPr lang="en-US" sz="1900" spc="5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Constituency-wise Election Results </a:t>
            </a:r>
          </a:p>
          <a:p>
            <a:pPr algn="l" marL="410229" indent="-205115" lvl="1">
              <a:lnSpc>
                <a:spcPts val="2565"/>
              </a:lnSpc>
              <a:buFont typeface="Arial"/>
              <a:buChar char="•"/>
            </a:pPr>
            <a:r>
              <a:rPr lang="en-US" sz="1900" spc="5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Party-Wise Election Results</a:t>
            </a:r>
          </a:p>
          <a:p>
            <a:pPr algn="l" marL="410229" indent="-205115" lvl="1">
              <a:lnSpc>
                <a:spcPts val="2565"/>
              </a:lnSpc>
              <a:buFont typeface="Arial"/>
              <a:buChar char="•"/>
            </a:pPr>
            <a:r>
              <a:rPr lang="en-US" sz="1900" spc="5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Indian States and Union Territories List </a:t>
            </a:r>
          </a:p>
          <a:p>
            <a:pPr algn="l" marL="410229" indent="-205115" lvl="1">
              <a:lnSpc>
                <a:spcPts val="2565"/>
              </a:lnSpc>
              <a:buFont typeface="Arial"/>
              <a:buChar char="•"/>
            </a:pPr>
            <a:r>
              <a:rPr lang="en-US" sz="1900" spc="5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State-wise Election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3521" y="3443625"/>
            <a:ext cx="3108587" cy="41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2926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Name: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86854" y="3472200"/>
            <a:ext cx="6170025" cy="38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9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18th Lok Sabha Election Dataset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3521" y="6842088"/>
            <a:ext cx="3108587" cy="41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2926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Tables: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5304" y="4597064"/>
            <a:ext cx="8066549" cy="193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887" spc="58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This dataset contains detailed results of the 18th Lok Sabha General Elections of India (2024), covering constituency-wise election outcomes across all 543 parliamentary constituencies. It provides structured information on candidates, political parties, vote shares, margins, and state-wise distribution of seats, enabling comprehensive electoral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3521" y="4058444"/>
            <a:ext cx="4161903" cy="41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2926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9895" y="755830"/>
            <a:ext cx="9894109" cy="8775341"/>
            <a:chOff x="0" y="0"/>
            <a:chExt cx="2605856" cy="23112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5856" cy="2311201"/>
            </a:xfrm>
            <a:custGeom>
              <a:avLst/>
              <a:gdLst/>
              <a:ahLst/>
              <a:cxnLst/>
              <a:rect r="r" b="b" t="t" l="l"/>
              <a:pathLst>
                <a:path h="2311201" w="2605856">
                  <a:moveTo>
                    <a:pt x="0" y="0"/>
                  </a:moveTo>
                  <a:lnTo>
                    <a:pt x="2605856" y="0"/>
                  </a:lnTo>
                  <a:lnTo>
                    <a:pt x="2605856" y="2311201"/>
                  </a:lnTo>
                  <a:lnTo>
                    <a:pt x="0" y="231120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05856" cy="2358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45472" y="4352052"/>
            <a:ext cx="7167241" cy="1457724"/>
            <a:chOff x="0" y="0"/>
            <a:chExt cx="1887668" cy="3839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7668" cy="383927"/>
            </a:xfrm>
            <a:custGeom>
              <a:avLst/>
              <a:gdLst/>
              <a:ahLst/>
              <a:cxnLst/>
              <a:rect r="r" b="b" t="t" l="l"/>
              <a:pathLst>
                <a:path h="383927" w="1887668">
                  <a:moveTo>
                    <a:pt x="55089" y="0"/>
                  </a:moveTo>
                  <a:lnTo>
                    <a:pt x="1832579" y="0"/>
                  </a:lnTo>
                  <a:cubicBezTo>
                    <a:pt x="1863004" y="0"/>
                    <a:pt x="1887668" y="24664"/>
                    <a:pt x="1887668" y="55089"/>
                  </a:cubicBezTo>
                  <a:lnTo>
                    <a:pt x="1887668" y="328838"/>
                  </a:lnTo>
                  <a:cubicBezTo>
                    <a:pt x="1887668" y="343449"/>
                    <a:pt x="1881864" y="357461"/>
                    <a:pt x="1871533" y="367792"/>
                  </a:cubicBezTo>
                  <a:cubicBezTo>
                    <a:pt x="1861202" y="378123"/>
                    <a:pt x="1847190" y="383927"/>
                    <a:pt x="1832579" y="383927"/>
                  </a:cubicBezTo>
                  <a:lnTo>
                    <a:pt x="55089" y="383927"/>
                  </a:lnTo>
                  <a:cubicBezTo>
                    <a:pt x="24664" y="383927"/>
                    <a:pt x="0" y="359263"/>
                    <a:pt x="0" y="328838"/>
                  </a:cubicBezTo>
                  <a:lnTo>
                    <a:pt x="0" y="55089"/>
                  </a:lnTo>
                  <a:cubicBezTo>
                    <a:pt x="0" y="24664"/>
                    <a:pt x="24664" y="0"/>
                    <a:pt x="5508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887668" cy="717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4297" y="4490361"/>
            <a:ext cx="3887702" cy="122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Table Description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6693735" y="5162543"/>
            <a:ext cx="785257" cy="21292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8041870" y="1315451"/>
            <a:ext cx="872479" cy="872479"/>
            <a:chOff x="0" y="0"/>
            <a:chExt cx="1163305" cy="116330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63305" cy="116330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7F7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-257175"/>
                <a:ext cx="6604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5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5564" y="29089"/>
              <a:ext cx="492176" cy="101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72"/>
                </a:lnSpc>
              </a:pPr>
              <a:r>
                <a:rPr lang="en-US" b="true" sz="462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144000" y="2140304"/>
            <a:ext cx="7492465" cy="234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is dataset contains constituency-wise election result details for candidates participating in different constituencies.</a:t>
            </a:r>
          </a:p>
          <a:p>
            <a:pPr algn="just">
              <a:lnSpc>
                <a:spcPts val="3104"/>
              </a:lnSpc>
            </a:pPr>
          </a:p>
          <a:p>
            <a:pPr algn="just">
              <a:lnSpc>
                <a:spcPts val="3104"/>
              </a:lnSpc>
            </a:pP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Each row represents the performance of a single candidate in a particular constituency.</a:t>
            </a:r>
          </a:p>
        </p:txBody>
      </p:sp>
      <p:grpSp>
        <p:nvGrpSpPr>
          <p:cNvPr name="Group 16" id="16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36400" cy="1132659"/>
            </a:xfrm>
            <a:custGeom>
              <a:avLst/>
              <a:gdLst/>
              <a:ahLst/>
              <a:cxnLst/>
              <a:rect r="r" b="b" t="t" l="l"/>
              <a:pathLst>
                <a:path h="1132659" w="1836400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44000" y="1476196"/>
            <a:ext cx="6730626" cy="48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b="true" sz="2770" spc="85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770" spc="85" u="non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onstituency-wise Election Details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4868006"/>
            <a:ext cx="6730626" cy="48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b="true" sz="2770" spc="85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Columns: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5533294"/>
            <a:ext cx="7492465" cy="31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S.no.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Candidate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Party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EVM Votes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Postal Votes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Total Votes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% of Votes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Constitution ID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9895" y="755830"/>
            <a:ext cx="9894109" cy="8775341"/>
            <a:chOff x="0" y="0"/>
            <a:chExt cx="2605856" cy="23112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5856" cy="2311201"/>
            </a:xfrm>
            <a:custGeom>
              <a:avLst/>
              <a:gdLst/>
              <a:ahLst/>
              <a:cxnLst/>
              <a:rect r="r" b="b" t="t" l="l"/>
              <a:pathLst>
                <a:path h="2311201" w="2605856">
                  <a:moveTo>
                    <a:pt x="0" y="0"/>
                  </a:moveTo>
                  <a:lnTo>
                    <a:pt x="2605856" y="0"/>
                  </a:lnTo>
                  <a:lnTo>
                    <a:pt x="2605856" y="2311201"/>
                  </a:lnTo>
                  <a:lnTo>
                    <a:pt x="0" y="231120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05856" cy="2358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45472" y="4352052"/>
            <a:ext cx="7167241" cy="1457724"/>
            <a:chOff x="0" y="0"/>
            <a:chExt cx="1887668" cy="3839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7668" cy="383927"/>
            </a:xfrm>
            <a:custGeom>
              <a:avLst/>
              <a:gdLst/>
              <a:ahLst/>
              <a:cxnLst/>
              <a:rect r="r" b="b" t="t" l="l"/>
              <a:pathLst>
                <a:path h="383927" w="1887668">
                  <a:moveTo>
                    <a:pt x="55089" y="0"/>
                  </a:moveTo>
                  <a:lnTo>
                    <a:pt x="1832579" y="0"/>
                  </a:lnTo>
                  <a:cubicBezTo>
                    <a:pt x="1863004" y="0"/>
                    <a:pt x="1887668" y="24664"/>
                    <a:pt x="1887668" y="55089"/>
                  </a:cubicBezTo>
                  <a:lnTo>
                    <a:pt x="1887668" y="328838"/>
                  </a:lnTo>
                  <a:cubicBezTo>
                    <a:pt x="1887668" y="343449"/>
                    <a:pt x="1881864" y="357461"/>
                    <a:pt x="1871533" y="367792"/>
                  </a:cubicBezTo>
                  <a:cubicBezTo>
                    <a:pt x="1861202" y="378123"/>
                    <a:pt x="1847190" y="383927"/>
                    <a:pt x="1832579" y="383927"/>
                  </a:cubicBezTo>
                  <a:lnTo>
                    <a:pt x="55089" y="383927"/>
                  </a:lnTo>
                  <a:cubicBezTo>
                    <a:pt x="24664" y="383927"/>
                    <a:pt x="0" y="359263"/>
                    <a:pt x="0" y="328838"/>
                  </a:cubicBezTo>
                  <a:lnTo>
                    <a:pt x="0" y="55089"/>
                  </a:lnTo>
                  <a:cubicBezTo>
                    <a:pt x="0" y="24664"/>
                    <a:pt x="24664" y="0"/>
                    <a:pt x="5508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887668" cy="717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4297" y="4490361"/>
            <a:ext cx="3887702" cy="122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Table Description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6693735" y="5162543"/>
            <a:ext cx="785257" cy="21292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8041870" y="1315451"/>
            <a:ext cx="872479" cy="872479"/>
            <a:chOff x="0" y="0"/>
            <a:chExt cx="1163305" cy="116330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63305" cy="116330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7F7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-257175"/>
                <a:ext cx="6604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5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5564" y="29089"/>
              <a:ext cx="492176" cy="101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72"/>
                </a:lnSpc>
              </a:pPr>
              <a:r>
                <a:rPr lang="en-US" b="true" sz="462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144000" y="2140304"/>
            <a:ext cx="7492465" cy="234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is dataset contains constituency-wise parliamentary election results.</a:t>
            </a:r>
          </a:p>
          <a:p>
            <a:pPr algn="just">
              <a:lnSpc>
                <a:spcPts val="3104"/>
              </a:lnSpc>
            </a:pPr>
          </a:p>
          <a:p>
            <a:pPr algn="just">
              <a:lnSpc>
                <a:spcPts val="3104"/>
              </a:lnSpc>
            </a:pP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Each row represents the winning candidate from a specific constituency along with their vote count, victory margin, and party details.</a:t>
            </a:r>
          </a:p>
        </p:txBody>
      </p:sp>
      <p:grpSp>
        <p:nvGrpSpPr>
          <p:cNvPr name="Group 16" id="16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36400" cy="1132659"/>
            </a:xfrm>
            <a:custGeom>
              <a:avLst/>
              <a:gdLst/>
              <a:ahLst/>
              <a:cxnLst/>
              <a:rect r="r" b="b" t="t" l="l"/>
              <a:pathLst>
                <a:path h="1132659" w="1836400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44000" y="1476196"/>
            <a:ext cx="7097728" cy="48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b="true" sz="2770" spc="85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770" spc="85" u="non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onstituency-wise Election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4868006"/>
            <a:ext cx="6730626" cy="48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b="true" sz="2770" spc="85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Columns: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5533294"/>
            <a:ext cx="7492465" cy="31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S. No.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Parliament Constituency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Constituency Name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Winning Candidate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Total votes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Margin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Constituency ID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Party ID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9895" y="755830"/>
            <a:ext cx="9894109" cy="8775341"/>
            <a:chOff x="0" y="0"/>
            <a:chExt cx="2605856" cy="23112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5856" cy="2311201"/>
            </a:xfrm>
            <a:custGeom>
              <a:avLst/>
              <a:gdLst/>
              <a:ahLst/>
              <a:cxnLst/>
              <a:rect r="r" b="b" t="t" l="l"/>
              <a:pathLst>
                <a:path h="2311201" w="2605856">
                  <a:moveTo>
                    <a:pt x="0" y="0"/>
                  </a:moveTo>
                  <a:lnTo>
                    <a:pt x="2605856" y="0"/>
                  </a:lnTo>
                  <a:lnTo>
                    <a:pt x="2605856" y="2311201"/>
                  </a:lnTo>
                  <a:lnTo>
                    <a:pt x="0" y="231120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05856" cy="2358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45472" y="4352052"/>
            <a:ext cx="7167241" cy="1457724"/>
            <a:chOff x="0" y="0"/>
            <a:chExt cx="1887668" cy="3839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7668" cy="383927"/>
            </a:xfrm>
            <a:custGeom>
              <a:avLst/>
              <a:gdLst/>
              <a:ahLst/>
              <a:cxnLst/>
              <a:rect r="r" b="b" t="t" l="l"/>
              <a:pathLst>
                <a:path h="383927" w="1887668">
                  <a:moveTo>
                    <a:pt x="55089" y="0"/>
                  </a:moveTo>
                  <a:lnTo>
                    <a:pt x="1832579" y="0"/>
                  </a:lnTo>
                  <a:cubicBezTo>
                    <a:pt x="1863004" y="0"/>
                    <a:pt x="1887668" y="24664"/>
                    <a:pt x="1887668" y="55089"/>
                  </a:cubicBezTo>
                  <a:lnTo>
                    <a:pt x="1887668" y="328838"/>
                  </a:lnTo>
                  <a:cubicBezTo>
                    <a:pt x="1887668" y="343449"/>
                    <a:pt x="1881864" y="357461"/>
                    <a:pt x="1871533" y="367792"/>
                  </a:cubicBezTo>
                  <a:cubicBezTo>
                    <a:pt x="1861202" y="378123"/>
                    <a:pt x="1847190" y="383927"/>
                    <a:pt x="1832579" y="383927"/>
                  </a:cubicBezTo>
                  <a:lnTo>
                    <a:pt x="55089" y="383927"/>
                  </a:lnTo>
                  <a:cubicBezTo>
                    <a:pt x="24664" y="383927"/>
                    <a:pt x="0" y="359263"/>
                    <a:pt x="0" y="328838"/>
                  </a:cubicBezTo>
                  <a:lnTo>
                    <a:pt x="0" y="55089"/>
                  </a:lnTo>
                  <a:cubicBezTo>
                    <a:pt x="0" y="24664"/>
                    <a:pt x="24664" y="0"/>
                    <a:pt x="5508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887668" cy="717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4297" y="4490361"/>
            <a:ext cx="3887702" cy="122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Table Description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6693735" y="5162543"/>
            <a:ext cx="785257" cy="21292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8041870" y="1315451"/>
            <a:ext cx="872479" cy="872479"/>
            <a:chOff x="0" y="0"/>
            <a:chExt cx="1163305" cy="116330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63305" cy="116330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7F7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-257175"/>
                <a:ext cx="6604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5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5564" y="29089"/>
              <a:ext cx="492176" cy="101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72"/>
                </a:lnSpc>
              </a:pPr>
              <a:r>
                <a:rPr lang="en-US" b="true" sz="462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144000" y="2140304"/>
            <a:ext cx="7492465" cy="273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is dataset contains the party-wise election performance results from a parliamentary election.</a:t>
            </a:r>
          </a:p>
          <a:p>
            <a:pPr algn="just">
              <a:lnSpc>
                <a:spcPts val="3104"/>
              </a:lnSpc>
            </a:pPr>
          </a:p>
          <a:p>
            <a:pPr algn="just">
              <a:lnSpc>
                <a:spcPts val="3104"/>
              </a:lnSpc>
            </a:pP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Each row represents a political party and the number of constituencies/seats won by that party.</a:t>
            </a:r>
          </a:p>
        </p:txBody>
      </p:sp>
      <p:grpSp>
        <p:nvGrpSpPr>
          <p:cNvPr name="Group 16" id="16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36400" cy="1132659"/>
            </a:xfrm>
            <a:custGeom>
              <a:avLst/>
              <a:gdLst/>
              <a:ahLst/>
              <a:cxnLst/>
              <a:rect r="r" b="b" t="t" l="l"/>
              <a:pathLst>
                <a:path h="1132659" w="1836400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44000" y="1476196"/>
            <a:ext cx="7097728" cy="48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b="true" sz="2770" spc="85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Par</a:t>
            </a:r>
            <a:r>
              <a:rPr lang="en-US" b="true" sz="2770" spc="85" u="non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ty-Wise Election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5117160"/>
            <a:ext cx="6730626" cy="48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b="true" sz="2770" spc="85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Columns: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5782448"/>
            <a:ext cx="7492465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Party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Seats Won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Party ID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9895" y="755830"/>
            <a:ext cx="9894109" cy="8775341"/>
            <a:chOff x="0" y="0"/>
            <a:chExt cx="2605856" cy="23112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5856" cy="2311201"/>
            </a:xfrm>
            <a:custGeom>
              <a:avLst/>
              <a:gdLst/>
              <a:ahLst/>
              <a:cxnLst/>
              <a:rect r="r" b="b" t="t" l="l"/>
              <a:pathLst>
                <a:path h="2311201" w="2605856">
                  <a:moveTo>
                    <a:pt x="0" y="0"/>
                  </a:moveTo>
                  <a:lnTo>
                    <a:pt x="2605856" y="0"/>
                  </a:lnTo>
                  <a:lnTo>
                    <a:pt x="2605856" y="2311201"/>
                  </a:lnTo>
                  <a:lnTo>
                    <a:pt x="0" y="231120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05856" cy="2358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45472" y="4352052"/>
            <a:ext cx="7167241" cy="1457724"/>
            <a:chOff x="0" y="0"/>
            <a:chExt cx="1887668" cy="3839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7668" cy="383927"/>
            </a:xfrm>
            <a:custGeom>
              <a:avLst/>
              <a:gdLst/>
              <a:ahLst/>
              <a:cxnLst/>
              <a:rect r="r" b="b" t="t" l="l"/>
              <a:pathLst>
                <a:path h="383927" w="1887668">
                  <a:moveTo>
                    <a:pt x="55089" y="0"/>
                  </a:moveTo>
                  <a:lnTo>
                    <a:pt x="1832579" y="0"/>
                  </a:lnTo>
                  <a:cubicBezTo>
                    <a:pt x="1863004" y="0"/>
                    <a:pt x="1887668" y="24664"/>
                    <a:pt x="1887668" y="55089"/>
                  </a:cubicBezTo>
                  <a:lnTo>
                    <a:pt x="1887668" y="328838"/>
                  </a:lnTo>
                  <a:cubicBezTo>
                    <a:pt x="1887668" y="343449"/>
                    <a:pt x="1881864" y="357461"/>
                    <a:pt x="1871533" y="367792"/>
                  </a:cubicBezTo>
                  <a:cubicBezTo>
                    <a:pt x="1861202" y="378123"/>
                    <a:pt x="1847190" y="383927"/>
                    <a:pt x="1832579" y="383927"/>
                  </a:cubicBezTo>
                  <a:lnTo>
                    <a:pt x="55089" y="383927"/>
                  </a:lnTo>
                  <a:cubicBezTo>
                    <a:pt x="24664" y="383927"/>
                    <a:pt x="0" y="359263"/>
                    <a:pt x="0" y="328838"/>
                  </a:cubicBezTo>
                  <a:lnTo>
                    <a:pt x="0" y="55089"/>
                  </a:lnTo>
                  <a:cubicBezTo>
                    <a:pt x="0" y="24664"/>
                    <a:pt x="24664" y="0"/>
                    <a:pt x="5508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887668" cy="717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4297" y="4490361"/>
            <a:ext cx="3887702" cy="122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Table Description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6693735" y="5162543"/>
            <a:ext cx="785257" cy="21292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8041870" y="1315451"/>
            <a:ext cx="872479" cy="872479"/>
            <a:chOff x="0" y="0"/>
            <a:chExt cx="1163305" cy="116330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63305" cy="116330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7F7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-257175"/>
                <a:ext cx="6604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5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5564" y="29089"/>
              <a:ext cx="492176" cy="101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72"/>
                </a:lnSpc>
              </a:pPr>
              <a:r>
                <a:rPr lang="en-US" b="true" sz="462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144000" y="2798768"/>
            <a:ext cx="7492465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is dataset contains a list of Indian States and Union Territories along with their unique identifiers (State IDs)</a:t>
            </a:r>
          </a:p>
        </p:txBody>
      </p:sp>
      <p:grpSp>
        <p:nvGrpSpPr>
          <p:cNvPr name="Group 16" id="16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36400" cy="1132659"/>
            </a:xfrm>
            <a:custGeom>
              <a:avLst/>
              <a:gdLst/>
              <a:ahLst/>
              <a:cxnLst/>
              <a:rect r="r" b="b" t="t" l="l"/>
              <a:pathLst>
                <a:path h="1132659" w="1836400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44000" y="1476196"/>
            <a:ext cx="7097728" cy="95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b="true" sz="2770" spc="85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770" spc="85" u="non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ndian States and Union Territories List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4868006"/>
            <a:ext cx="6730626" cy="48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b="true" sz="2770" spc="85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Columns: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5533294"/>
            <a:ext cx="7492465" cy="78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State ID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9895" y="755830"/>
            <a:ext cx="9894109" cy="8775341"/>
            <a:chOff x="0" y="0"/>
            <a:chExt cx="2605856" cy="23112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5856" cy="2311201"/>
            </a:xfrm>
            <a:custGeom>
              <a:avLst/>
              <a:gdLst/>
              <a:ahLst/>
              <a:cxnLst/>
              <a:rect r="r" b="b" t="t" l="l"/>
              <a:pathLst>
                <a:path h="2311201" w="2605856">
                  <a:moveTo>
                    <a:pt x="0" y="0"/>
                  </a:moveTo>
                  <a:lnTo>
                    <a:pt x="2605856" y="0"/>
                  </a:lnTo>
                  <a:lnTo>
                    <a:pt x="2605856" y="2311201"/>
                  </a:lnTo>
                  <a:lnTo>
                    <a:pt x="0" y="231120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05856" cy="2358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45472" y="4352052"/>
            <a:ext cx="7167241" cy="1457724"/>
            <a:chOff x="0" y="0"/>
            <a:chExt cx="1887668" cy="3839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7668" cy="383927"/>
            </a:xfrm>
            <a:custGeom>
              <a:avLst/>
              <a:gdLst/>
              <a:ahLst/>
              <a:cxnLst/>
              <a:rect r="r" b="b" t="t" l="l"/>
              <a:pathLst>
                <a:path h="383927" w="1887668">
                  <a:moveTo>
                    <a:pt x="55089" y="0"/>
                  </a:moveTo>
                  <a:lnTo>
                    <a:pt x="1832579" y="0"/>
                  </a:lnTo>
                  <a:cubicBezTo>
                    <a:pt x="1863004" y="0"/>
                    <a:pt x="1887668" y="24664"/>
                    <a:pt x="1887668" y="55089"/>
                  </a:cubicBezTo>
                  <a:lnTo>
                    <a:pt x="1887668" y="328838"/>
                  </a:lnTo>
                  <a:cubicBezTo>
                    <a:pt x="1887668" y="343449"/>
                    <a:pt x="1881864" y="357461"/>
                    <a:pt x="1871533" y="367792"/>
                  </a:cubicBezTo>
                  <a:cubicBezTo>
                    <a:pt x="1861202" y="378123"/>
                    <a:pt x="1847190" y="383927"/>
                    <a:pt x="1832579" y="383927"/>
                  </a:cubicBezTo>
                  <a:lnTo>
                    <a:pt x="55089" y="383927"/>
                  </a:lnTo>
                  <a:cubicBezTo>
                    <a:pt x="24664" y="383927"/>
                    <a:pt x="0" y="359263"/>
                    <a:pt x="0" y="328838"/>
                  </a:cubicBezTo>
                  <a:lnTo>
                    <a:pt x="0" y="55089"/>
                  </a:lnTo>
                  <a:cubicBezTo>
                    <a:pt x="0" y="24664"/>
                    <a:pt x="24664" y="0"/>
                    <a:pt x="5508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887668" cy="717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4297" y="4490361"/>
            <a:ext cx="3887702" cy="122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Table Description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6693735" y="5162543"/>
            <a:ext cx="785257" cy="21292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8041870" y="1315451"/>
            <a:ext cx="872479" cy="872479"/>
            <a:chOff x="0" y="0"/>
            <a:chExt cx="1163305" cy="116330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63305" cy="116330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7F7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-257175"/>
                <a:ext cx="6604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5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5564" y="29089"/>
              <a:ext cx="492176" cy="101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72"/>
                </a:lnSpc>
              </a:pPr>
              <a:r>
                <a:rPr lang="en-US" b="true" sz="462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144000" y="2395617"/>
            <a:ext cx="7492465" cy="195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is dataset contains state-wise parliamentary election results for constituencies across India. It provides details about winning and trailing candidates, victory margins, constituency information, and election result status.</a:t>
            </a:r>
          </a:p>
        </p:txBody>
      </p:sp>
      <p:grpSp>
        <p:nvGrpSpPr>
          <p:cNvPr name="Group 16" id="16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36400" cy="1132659"/>
            </a:xfrm>
            <a:custGeom>
              <a:avLst/>
              <a:gdLst/>
              <a:ahLst/>
              <a:cxnLst/>
              <a:rect r="r" b="b" t="t" l="l"/>
              <a:pathLst>
                <a:path h="1132659" w="1836400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44000" y="1476196"/>
            <a:ext cx="7097728" cy="48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b="true" sz="2770" spc="85" u="non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State-wise Election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4868006"/>
            <a:ext cx="6730626" cy="48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0"/>
              </a:lnSpc>
            </a:pPr>
            <a:r>
              <a:rPr lang="en-US" b="true" sz="2770" spc="85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Columns: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5533294"/>
            <a:ext cx="7492465" cy="351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Constituency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Const. No.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Parliament constituency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Leading Candidate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Trailing Candidate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Margin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Status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State ID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6411" y="1360532"/>
            <a:ext cx="1592821" cy="7565937"/>
            <a:chOff x="0" y="0"/>
            <a:chExt cx="419508" cy="1992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508" cy="1992675"/>
            </a:xfrm>
            <a:custGeom>
              <a:avLst/>
              <a:gdLst/>
              <a:ahLst/>
              <a:cxnLst/>
              <a:rect r="r" b="b" t="t" l="l"/>
              <a:pathLst>
                <a:path h="1992675" w="419508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91589" y="1360532"/>
            <a:ext cx="1592821" cy="7565937"/>
            <a:chOff x="0" y="0"/>
            <a:chExt cx="419508" cy="1992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508" cy="1992675"/>
            </a:xfrm>
            <a:custGeom>
              <a:avLst/>
              <a:gdLst/>
              <a:ahLst/>
              <a:cxnLst/>
              <a:rect r="r" b="b" t="t" l="l"/>
              <a:pathLst>
                <a:path h="1992675" w="419508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8241" y="1668462"/>
            <a:ext cx="6452033" cy="1080906"/>
            <a:chOff x="0" y="0"/>
            <a:chExt cx="8602711" cy="144120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8602677" cy="1254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41"/>
                </a:lnSpc>
              </a:pPr>
              <a:r>
                <a:rPr lang="en-US" b="true" sz="6035" spc="470">
                  <a:solidFill>
                    <a:srgbClr val="8D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Cleaning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59" y="1406366"/>
              <a:ext cx="8602618" cy="19910"/>
            </a:xfrm>
            <a:prstGeom prst="line">
              <a:avLst/>
            </a:prstGeom>
            <a:ln cap="flat" w="2986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15750" y="3361479"/>
            <a:ext cx="6187677" cy="202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386" indent="-308693" lvl="1">
              <a:lnSpc>
                <a:spcPts val="4003"/>
              </a:lnSpc>
              <a:buFont typeface="Arial"/>
              <a:buChar char="•"/>
            </a:pPr>
            <a:r>
              <a:rPr lang="en-US" sz="285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Candidate names are modified to proper format</a:t>
            </a:r>
          </a:p>
          <a:p>
            <a:pPr algn="l" marL="617386" indent="-308693" lvl="1">
              <a:lnSpc>
                <a:spcPts val="4003"/>
              </a:lnSpc>
              <a:buFont typeface="Arial"/>
              <a:buChar char="•"/>
            </a:pPr>
            <a:r>
              <a:rPr lang="en-US" sz="285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Consitutencies are properly Capitalized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0852" y="1123950"/>
            <a:ext cx="4526784" cy="71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0"/>
              </a:lnSpc>
            </a:pPr>
            <a:r>
              <a:rPr lang="en-US" b="true" sz="53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26778" y="1091808"/>
            <a:ext cx="4589757" cy="71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0"/>
              </a:lnSpc>
            </a:pPr>
            <a:r>
              <a:rPr lang="en-US" b="true" sz="53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2672" y="1775329"/>
            <a:ext cx="7097970" cy="94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1"/>
              </a:lnSpc>
            </a:pPr>
            <a:r>
              <a:rPr lang="en-US" b="true" sz="6035" spc="47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Transformation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0161375" y="2723237"/>
            <a:ext cx="6541717" cy="1493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>
            <a:off x="9144000" y="1336074"/>
            <a:ext cx="22" cy="759039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0228730" y="3361479"/>
            <a:ext cx="6187677" cy="5051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386" indent="-308693" lvl="1">
              <a:lnSpc>
                <a:spcPts val="4003"/>
              </a:lnSpc>
              <a:buFont typeface="Arial"/>
              <a:buChar char="•"/>
            </a:pPr>
            <a:r>
              <a:rPr lang="en-US" sz="285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Combined Constituency name and its ID to avoid ambiguities.</a:t>
            </a:r>
          </a:p>
          <a:p>
            <a:pPr algn="l" marL="617386" indent="-308693" lvl="1">
              <a:lnSpc>
                <a:spcPts val="4003"/>
              </a:lnSpc>
              <a:buFont typeface="Arial"/>
              <a:buChar char="•"/>
            </a:pPr>
            <a:r>
              <a:rPr lang="en-US" sz="285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Created Party Abbreviations from the Party Names using Power Query</a:t>
            </a:r>
          </a:p>
          <a:p>
            <a:pPr algn="l" marL="617386" indent="-308693" lvl="1">
              <a:lnSpc>
                <a:spcPts val="4003"/>
              </a:lnSpc>
              <a:buFont typeface="Arial"/>
              <a:buChar char="•"/>
            </a:pPr>
            <a:r>
              <a:rPr lang="en-US" sz="285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Calculated DAX expression to analysis Key metrics such as Total Votes, Top Constituency, etc.,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3773009" y="-2150283"/>
            <a:ext cx="6972581" cy="4300566"/>
            <a:chOff x="0" y="0"/>
            <a:chExt cx="1836400" cy="11326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6400" cy="1132659"/>
            </a:xfrm>
            <a:custGeom>
              <a:avLst/>
              <a:gdLst/>
              <a:ahLst/>
              <a:cxnLst/>
              <a:rect r="r" b="b" t="t" l="l"/>
              <a:pathLst>
                <a:path h="1132659" w="1836400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0635" y="2662077"/>
            <a:ext cx="15506730" cy="7361162"/>
            <a:chOff x="0" y="0"/>
            <a:chExt cx="1021382" cy="4848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1382" cy="484858"/>
            </a:xfrm>
            <a:custGeom>
              <a:avLst/>
              <a:gdLst/>
              <a:ahLst/>
              <a:cxnLst/>
              <a:rect r="r" b="b" t="t" l="l"/>
              <a:pathLst>
                <a:path h="484858" w="1021382">
                  <a:moveTo>
                    <a:pt x="0" y="0"/>
                  </a:moveTo>
                  <a:lnTo>
                    <a:pt x="1021382" y="0"/>
                  </a:lnTo>
                  <a:lnTo>
                    <a:pt x="1021382" y="484858"/>
                  </a:lnTo>
                  <a:lnTo>
                    <a:pt x="0" y="484858"/>
                  </a:lnTo>
                  <a:close/>
                </a:path>
              </a:pathLst>
            </a:custGeom>
            <a:blipFill>
              <a:blip r:embed="rId2"/>
              <a:stretch>
                <a:fillRect l="0" t="-6808" r="0" b="-6808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-1851927" y="2356488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622612"/>
            <a:ext cx="2127390" cy="86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371593"/>
            <a:ext cx="5312643" cy="98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Modelling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5358" y="758150"/>
            <a:ext cx="7349269" cy="15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5820" spc="488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- Overall Analysis</a:t>
            </a:r>
          </a:p>
        </p:txBody>
      </p:sp>
      <p:grpSp>
        <p:nvGrpSpPr>
          <p:cNvPr name="Group 3" id="3"/>
          <p:cNvGrpSpPr/>
          <p:nvPr/>
        </p:nvGrpSpPr>
        <p:grpSpPr>
          <a:xfrm rot="-3503507">
            <a:off x="14362366" y="-652020"/>
            <a:ext cx="5068421" cy="2062210"/>
            <a:chOff x="0" y="0"/>
            <a:chExt cx="1334893" cy="5431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4893" cy="543133"/>
            </a:xfrm>
            <a:custGeom>
              <a:avLst/>
              <a:gdLst/>
              <a:ahLst/>
              <a:cxnLst/>
              <a:rect r="r" b="b" t="t" l="l"/>
              <a:pathLst>
                <a:path h="543133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465232"/>
                  </a:lnTo>
                  <a:cubicBezTo>
                    <a:pt x="1334893" y="485893"/>
                    <a:pt x="1326685" y="505707"/>
                    <a:pt x="1312076" y="520317"/>
                  </a:cubicBezTo>
                  <a:cubicBezTo>
                    <a:pt x="1297467" y="534926"/>
                    <a:pt x="1277652" y="543133"/>
                    <a:pt x="1256991" y="543133"/>
                  </a:cubicBezTo>
                  <a:lnTo>
                    <a:pt x="77902" y="543133"/>
                  </a:lnTo>
                  <a:cubicBezTo>
                    <a:pt x="34878" y="543133"/>
                    <a:pt x="0" y="508256"/>
                    <a:pt x="0" y="465232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1334893" cy="87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503507">
            <a:off x="-2121500" y="8761459"/>
            <a:ext cx="5068421" cy="2062210"/>
            <a:chOff x="0" y="0"/>
            <a:chExt cx="1334893" cy="5431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4893" cy="543133"/>
            </a:xfrm>
            <a:custGeom>
              <a:avLst/>
              <a:gdLst/>
              <a:ahLst/>
              <a:cxnLst/>
              <a:rect r="r" b="b" t="t" l="l"/>
              <a:pathLst>
                <a:path h="543133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465232"/>
                  </a:lnTo>
                  <a:cubicBezTo>
                    <a:pt x="1334893" y="485893"/>
                    <a:pt x="1326685" y="505707"/>
                    <a:pt x="1312076" y="520317"/>
                  </a:cubicBezTo>
                  <a:cubicBezTo>
                    <a:pt x="1297467" y="534926"/>
                    <a:pt x="1277652" y="543133"/>
                    <a:pt x="1256991" y="543133"/>
                  </a:cubicBezTo>
                  <a:lnTo>
                    <a:pt x="77902" y="543133"/>
                  </a:lnTo>
                  <a:cubicBezTo>
                    <a:pt x="34878" y="543133"/>
                    <a:pt x="0" y="508256"/>
                    <a:pt x="0" y="465232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1334893" cy="87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99721" y="2538124"/>
            <a:ext cx="12862974" cy="7254440"/>
            <a:chOff x="0" y="0"/>
            <a:chExt cx="916712" cy="5170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6711" cy="517006"/>
            </a:xfrm>
            <a:custGeom>
              <a:avLst/>
              <a:gdLst/>
              <a:ahLst/>
              <a:cxnLst/>
              <a:rect r="r" b="b" t="t" l="l"/>
              <a:pathLst>
                <a:path h="517006" w="916711">
                  <a:moveTo>
                    <a:pt x="0" y="0"/>
                  </a:moveTo>
                  <a:lnTo>
                    <a:pt x="916711" y="0"/>
                  </a:lnTo>
                  <a:lnTo>
                    <a:pt x="916711" y="517006"/>
                  </a:lnTo>
                  <a:lnTo>
                    <a:pt x="0" y="517006"/>
                  </a:lnTo>
                  <a:close/>
                </a:path>
              </a:pathLst>
            </a:custGeom>
            <a:blipFill>
              <a:blip r:embed="rId2"/>
              <a:stretch>
                <a:fillRect l="0" t="-354" r="0" b="-354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>
            <a:off x="-1458143" y="2317539"/>
            <a:ext cx="1060214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5358" y="758150"/>
            <a:ext cx="10308367" cy="15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5820" spc="488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- Constituency Analysis</a:t>
            </a:r>
          </a:p>
        </p:txBody>
      </p:sp>
      <p:grpSp>
        <p:nvGrpSpPr>
          <p:cNvPr name="Group 3" id="3"/>
          <p:cNvGrpSpPr/>
          <p:nvPr/>
        </p:nvGrpSpPr>
        <p:grpSpPr>
          <a:xfrm rot="-3503507">
            <a:off x="14362366" y="-652020"/>
            <a:ext cx="5068421" cy="2062210"/>
            <a:chOff x="0" y="0"/>
            <a:chExt cx="1334893" cy="5431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4893" cy="543133"/>
            </a:xfrm>
            <a:custGeom>
              <a:avLst/>
              <a:gdLst/>
              <a:ahLst/>
              <a:cxnLst/>
              <a:rect r="r" b="b" t="t" l="l"/>
              <a:pathLst>
                <a:path h="543133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465232"/>
                  </a:lnTo>
                  <a:cubicBezTo>
                    <a:pt x="1334893" y="485893"/>
                    <a:pt x="1326685" y="505707"/>
                    <a:pt x="1312076" y="520317"/>
                  </a:cubicBezTo>
                  <a:cubicBezTo>
                    <a:pt x="1297467" y="534926"/>
                    <a:pt x="1277652" y="543133"/>
                    <a:pt x="1256991" y="543133"/>
                  </a:cubicBezTo>
                  <a:lnTo>
                    <a:pt x="77902" y="543133"/>
                  </a:lnTo>
                  <a:cubicBezTo>
                    <a:pt x="34878" y="543133"/>
                    <a:pt x="0" y="508256"/>
                    <a:pt x="0" y="465232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1334893" cy="87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503507">
            <a:off x="-2121500" y="8761459"/>
            <a:ext cx="5068421" cy="2062210"/>
            <a:chOff x="0" y="0"/>
            <a:chExt cx="1334893" cy="5431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4893" cy="543133"/>
            </a:xfrm>
            <a:custGeom>
              <a:avLst/>
              <a:gdLst/>
              <a:ahLst/>
              <a:cxnLst/>
              <a:rect r="r" b="b" t="t" l="l"/>
              <a:pathLst>
                <a:path h="543133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465232"/>
                  </a:lnTo>
                  <a:cubicBezTo>
                    <a:pt x="1334893" y="485893"/>
                    <a:pt x="1326685" y="505707"/>
                    <a:pt x="1312076" y="520317"/>
                  </a:cubicBezTo>
                  <a:cubicBezTo>
                    <a:pt x="1297467" y="534926"/>
                    <a:pt x="1277652" y="543133"/>
                    <a:pt x="1256991" y="543133"/>
                  </a:cubicBezTo>
                  <a:lnTo>
                    <a:pt x="77902" y="543133"/>
                  </a:lnTo>
                  <a:cubicBezTo>
                    <a:pt x="34878" y="543133"/>
                    <a:pt x="0" y="508256"/>
                    <a:pt x="0" y="465232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1334893" cy="87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458143" y="2317539"/>
            <a:ext cx="13276627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677897" y="2499079"/>
            <a:ext cx="12932205" cy="7293485"/>
            <a:chOff x="0" y="0"/>
            <a:chExt cx="916712" cy="517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6711" cy="517006"/>
            </a:xfrm>
            <a:custGeom>
              <a:avLst/>
              <a:gdLst/>
              <a:ahLst/>
              <a:cxnLst/>
              <a:rect r="r" b="b" t="t" l="l"/>
              <a:pathLst>
                <a:path h="517006" w="916711">
                  <a:moveTo>
                    <a:pt x="0" y="0"/>
                  </a:moveTo>
                  <a:lnTo>
                    <a:pt x="916711" y="0"/>
                  </a:lnTo>
                  <a:lnTo>
                    <a:pt x="916711" y="517006"/>
                  </a:lnTo>
                  <a:lnTo>
                    <a:pt x="0" y="517006"/>
                  </a:lnTo>
                  <a:close/>
                </a:path>
              </a:pathLst>
            </a:custGeom>
            <a:blipFill>
              <a:blip r:embed="rId2"/>
              <a:stretch>
                <a:fillRect l="0" t="-645" r="0" b="-64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5358" y="758150"/>
            <a:ext cx="7349269" cy="15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5820" spc="488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- State Analysis</a:t>
            </a:r>
          </a:p>
        </p:txBody>
      </p:sp>
      <p:grpSp>
        <p:nvGrpSpPr>
          <p:cNvPr name="Group 3" id="3"/>
          <p:cNvGrpSpPr/>
          <p:nvPr/>
        </p:nvGrpSpPr>
        <p:grpSpPr>
          <a:xfrm rot="-3503507">
            <a:off x="14362366" y="-652020"/>
            <a:ext cx="5068421" cy="2062210"/>
            <a:chOff x="0" y="0"/>
            <a:chExt cx="1334893" cy="5431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4893" cy="543133"/>
            </a:xfrm>
            <a:custGeom>
              <a:avLst/>
              <a:gdLst/>
              <a:ahLst/>
              <a:cxnLst/>
              <a:rect r="r" b="b" t="t" l="l"/>
              <a:pathLst>
                <a:path h="543133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465232"/>
                  </a:lnTo>
                  <a:cubicBezTo>
                    <a:pt x="1334893" y="485893"/>
                    <a:pt x="1326685" y="505707"/>
                    <a:pt x="1312076" y="520317"/>
                  </a:cubicBezTo>
                  <a:cubicBezTo>
                    <a:pt x="1297467" y="534926"/>
                    <a:pt x="1277652" y="543133"/>
                    <a:pt x="1256991" y="543133"/>
                  </a:cubicBezTo>
                  <a:lnTo>
                    <a:pt x="77902" y="543133"/>
                  </a:lnTo>
                  <a:cubicBezTo>
                    <a:pt x="34878" y="543133"/>
                    <a:pt x="0" y="508256"/>
                    <a:pt x="0" y="465232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1334893" cy="87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503507">
            <a:off x="-2121500" y="8761459"/>
            <a:ext cx="5068421" cy="2062210"/>
            <a:chOff x="0" y="0"/>
            <a:chExt cx="1334893" cy="5431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4893" cy="543133"/>
            </a:xfrm>
            <a:custGeom>
              <a:avLst/>
              <a:gdLst/>
              <a:ahLst/>
              <a:cxnLst/>
              <a:rect r="r" b="b" t="t" l="l"/>
              <a:pathLst>
                <a:path h="543133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465232"/>
                  </a:lnTo>
                  <a:cubicBezTo>
                    <a:pt x="1334893" y="485893"/>
                    <a:pt x="1326685" y="505707"/>
                    <a:pt x="1312076" y="520317"/>
                  </a:cubicBezTo>
                  <a:cubicBezTo>
                    <a:pt x="1297467" y="534926"/>
                    <a:pt x="1277652" y="543133"/>
                    <a:pt x="1256991" y="543133"/>
                  </a:cubicBezTo>
                  <a:lnTo>
                    <a:pt x="77902" y="543133"/>
                  </a:lnTo>
                  <a:cubicBezTo>
                    <a:pt x="34878" y="543133"/>
                    <a:pt x="0" y="508256"/>
                    <a:pt x="0" y="465232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1334893" cy="87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458143" y="2317539"/>
            <a:ext cx="1060214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576562" y="2558620"/>
            <a:ext cx="13134877" cy="7407787"/>
            <a:chOff x="0" y="0"/>
            <a:chExt cx="916712" cy="517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6711" cy="517006"/>
            </a:xfrm>
            <a:custGeom>
              <a:avLst/>
              <a:gdLst/>
              <a:ahLst/>
              <a:cxnLst/>
              <a:rect r="r" b="b" t="t" l="l"/>
              <a:pathLst>
                <a:path h="517006" w="916711">
                  <a:moveTo>
                    <a:pt x="0" y="0"/>
                  </a:moveTo>
                  <a:lnTo>
                    <a:pt x="916711" y="0"/>
                  </a:lnTo>
                  <a:lnTo>
                    <a:pt x="916711" y="517006"/>
                  </a:lnTo>
                  <a:lnTo>
                    <a:pt x="0" y="517006"/>
                  </a:lnTo>
                  <a:close/>
                </a:path>
              </a:pathLst>
            </a:custGeom>
            <a:blipFill>
              <a:blip r:embed="rId2"/>
              <a:stretch>
                <a:fillRect l="0" t="-864" r="0" b="-864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5358" y="758150"/>
            <a:ext cx="7349269" cy="155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5820" spc="488" b="true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- Party Analysis</a:t>
            </a:r>
          </a:p>
        </p:txBody>
      </p:sp>
      <p:grpSp>
        <p:nvGrpSpPr>
          <p:cNvPr name="Group 3" id="3"/>
          <p:cNvGrpSpPr/>
          <p:nvPr/>
        </p:nvGrpSpPr>
        <p:grpSpPr>
          <a:xfrm rot="-3503507">
            <a:off x="14362366" y="-652020"/>
            <a:ext cx="5068421" cy="2062210"/>
            <a:chOff x="0" y="0"/>
            <a:chExt cx="1334893" cy="5431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4893" cy="543133"/>
            </a:xfrm>
            <a:custGeom>
              <a:avLst/>
              <a:gdLst/>
              <a:ahLst/>
              <a:cxnLst/>
              <a:rect r="r" b="b" t="t" l="l"/>
              <a:pathLst>
                <a:path h="543133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465232"/>
                  </a:lnTo>
                  <a:cubicBezTo>
                    <a:pt x="1334893" y="485893"/>
                    <a:pt x="1326685" y="505707"/>
                    <a:pt x="1312076" y="520317"/>
                  </a:cubicBezTo>
                  <a:cubicBezTo>
                    <a:pt x="1297467" y="534926"/>
                    <a:pt x="1277652" y="543133"/>
                    <a:pt x="1256991" y="543133"/>
                  </a:cubicBezTo>
                  <a:lnTo>
                    <a:pt x="77902" y="543133"/>
                  </a:lnTo>
                  <a:cubicBezTo>
                    <a:pt x="34878" y="543133"/>
                    <a:pt x="0" y="508256"/>
                    <a:pt x="0" y="465232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1334893" cy="87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503507">
            <a:off x="-2121500" y="8761459"/>
            <a:ext cx="5068421" cy="2062210"/>
            <a:chOff x="0" y="0"/>
            <a:chExt cx="1334893" cy="5431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4893" cy="543133"/>
            </a:xfrm>
            <a:custGeom>
              <a:avLst/>
              <a:gdLst/>
              <a:ahLst/>
              <a:cxnLst/>
              <a:rect r="r" b="b" t="t" l="l"/>
              <a:pathLst>
                <a:path h="543133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465232"/>
                  </a:lnTo>
                  <a:cubicBezTo>
                    <a:pt x="1334893" y="485893"/>
                    <a:pt x="1326685" y="505707"/>
                    <a:pt x="1312076" y="520317"/>
                  </a:cubicBezTo>
                  <a:cubicBezTo>
                    <a:pt x="1297467" y="534926"/>
                    <a:pt x="1277652" y="543133"/>
                    <a:pt x="1256991" y="543133"/>
                  </a:cubicBezTo>
                  <a:lnTo>
                    <a:pt x="77902" y="543133"/>
                  </a:lnTo>
                  <a:cubicBezTo>
                    <a:pt x="34878" y="543133"/>
                    <a:pt x="0" y="508256"/>
                    <a:pt x="0" y="465232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1334893" cy="87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458143" y="2317539"/>
            <a:ext cx="1060214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576562" y="2610534"/>
            <a:ext cx="13134877" cy="7407787"/>
            <a:chOff x="0" y="0"/>
            <a:chExt cx="916712" cy="517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6711" cy="517006"/>
            </a:xfrm>
            <a:custGeom>
              <a:avLst/>
              <a:gdLst/>
              <a:ahLst/>
              <a:cxnLst/>
              <a:rect r="r" b="b" t="t" l="l"/>
              <a:pathLst>
                <a:path h="517006" w="916711">
                  <a:moveTo>
                    <a:pt x="0" y="0"/>
                  </a:moveTo>
                  <a:lnTo>
                    <a:pt x="916711" y="0"/>
                  </a:lnTo>
                  <a:lnTo>
                    <a:pt x="916711" y="517006"/>
                  </a:lnTo>
                  <a:lnTo>
                    <a:pt x="0" y="517006"/>
                  </a:lnTo>
                  <a:close/>
                </a:path>
              </a:pathLst>
            </a:custGeom>
            <a:blipFill>
              <a:blip r:embed="rId2"/>
              <a:stretch>
                <a:fillRect l="0" t="-1175" r="0" b="-1175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1022" y="604830"/>
            <a:ext cx="11339396" cy="9077341"/>
            <a:chOff x="0" y="0"/>
            <a:chExt cx="2986508" cy="2390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6508" cy="2390740"/>
            </a:xfrm>
            <a:custGeom>
              <a:avLst/>
              <a:gdLst/>
              <a:ahLst/>
              <a:cxnLst/>
              <a:rect r="r" b="b" t="t" l="l"/>
              <a:pathLst>
                <a:path h="2390740" w="2986508">
                  <a:moveTo>
                    <a:pt x="0" y="0"/>
                  </a:moveTo>
                  <a:lnTo>
                    <a:pt x="2986508" y="0"/>
                  </a:lnTo>
                  <a:lnTo>
                    <a:pt x="2986508" y="2390740"/>
                  </a:lnTo>
                  <a:lnTo>
                    <a:pt x="0" y="239074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86508" cy="2438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45472" y="4352052"/>
            <a:ext cx="5673111" cy="1457724"/>
            <a:chOff x="0" y="0"/>
            <a:chExt cx="1494153" cy="3839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4153" cy="383927"/>
            </a:xfrm>
            <a:custGeom>
              <a:avLst/>
              <a:gdLst/>
              <a:ahLst/>
              <a:cxnLst/>
              <a:rect r="r" b="b" t="t" l="l"/>
              <a:pathLst>
                <a:path h="383927" w="1494153">
                  <a:moveTo>
                    <a:pt x="69598" y="0"/>
                  </a:moveTo>
                  <a:lnTo>
                    <a:pt x="1424555" y="0"/>
                  </a:lnTo>
                  <a:cubicBezTo>
                    <a:pt x="1443013" y="0"/>
                    <a:pt x="1460716" y="7333"/>
                    <a:pt x="1473768" y="20385"/>
                  </a:cubicBezTo>
                  <a:cubicBezTo>
                    <a:pt x="1486820" y="33437"/>
                    <a:pt x="1494153" y="51140"/>
                    <a:pt x="1494153" y="69598"/>
                  </a:cubicBezTo>
                  <a:lnTo>
                    <a:pt x="1494153" y="314329"/>
                  </a:lnTo>
                  <a:cubicBezTo>
                    <a:pt x="1494153" y="332788"/>
                    <a:pt x="1486820" y="350490"/>
                    <a:pt x="1473768" y="363543"/>
                  </a:cubicBezTo>
                  <a:cubicBezTo>
                    <a:pt x="1460716" y="376595"/>
                    <a:pt x="1443013" y="383927"/>
                    <a:pt x="1424555" y="383927"/>
                  </a:cubicBezTo>
                  <a:lnTo>
                    <a:pt x="69598" y="383927"/>
                  </a:lnTo>
                  <a:cubicBezTo>
                    <a:pt x="31160" y="383927"/>
                    <a:pt x="0" y="352767"/>
                    <a:pt x="0" y="314329"/>
                  </a:cubicBezTo>
                  <a:lnTo>
                    <a:pt x="0" y="69598"/>
                  </a:lnTo>
                  <a:cubicBezTo>
                    <a:pt x="0" y="51140"/>
                    <a:pt x="7333" y="33437"/>
                    <a:pt x="20385" y="20385"/>
                  </a:cubicBezTo>
                  <a:cubicBezTo>
                    <a:pt x="33437" y="7333"/>
                    <a:pt x="51140" y="0"/>
                    <a:pt x="69598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494153" cy="717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86748" y="4708520"/>
            <a:ext cx="3530067" cy="92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Insights</a:t>
            </a:r>
          </a:p>
        </p:txBody>
      </p:sp>
      <p:sp>
        <p:nvSpPr>
          <p:cNvPr name="AutoShape 9" id="9"/>
          <p:cNvSpPr/>
          <p:nvPr/>
        </p:nvSpPr>
        <p:spPr>
          <a:xfrm>
            <a:off x="5305765" y="5176825"/>
            <a:ext cx="785257" cy="21292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6488727" y="1112347"/>
            <a:ext cx="862324" cy="862324"/>
            <a:chOff x="0" y="0"/>
            <a:chExt cx="1149765" cy="114976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49765" cy="114976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7F7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-257175"/>
                <a:ext cx="6604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4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1659" y="27753"/>
              <a:ext cx="486448" cy="1008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97"/>
                </a:lnSpc>
              </a:pPr>
              <a:r>
                <a:rPr lang="en-US" b="true" sz="456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744844" y="1064722"/>
            <a:ext cx="9150036" cy="195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 BJP won 240 seats, falling short of the 272 majority mark on its own. The NDA alliance together secured 293 seats, allowing it to form the government. This marked a shift from earlier elections where BJP had a single-party majority (2014, 2019).</a:t>
            </a:r>
          </a:p>
        </p:txBody>
      </p:sp>
      <p:grpSp>
        <p:nvGrpSpPr>
          <p:cNvPr name="Group 16" id="16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36400" cy="1132659"/>
            </a:xfrm>
            <a:custGeom>
              <a:avLst/>
              <a:gdLst/>
              <a:ahLst/>
              <a:cxnLst/>
              <a:rect r="r" b="b" t="t" l="l"/>
              <a:pathLst>
                <a:path h="1132659" w="1836400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88727" y="3329940"/>
            <a:ext cx="862324" cy="862324"/>
            <a:chOff x="0" y="0"/>
            <a:chExt cx="1149765" cy="1149765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149765" cy="114976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7F7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-257175"/>
                <a:ext cx="6604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4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31659" y="27753"/>
              <a:ext cx="486448" cy="1008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97"/>
                </a:lnSpc>
              </a:pPr>
              <a:r>
                <a:rPr lang="en-US" b="true" sz="456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744844" y="3282315"/>
            <a:ext cx="9150036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 Congress party won 99 seats, its best performance in a decade. The INDIA alliance overall emerged as a significantly stronger opposition bloc.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487223" y="4817112"/>
            <a:ext cx="862324" cy="862324"/>
            <a:chOff x="0" y="0"/>
            <a:chExt cx="1149765" cy="1149765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149765" cy="1149765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7F7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-257175"/>
                <a:ext cx="6604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4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31659" y="27753"/>
              <a:ext cx="486448" cy="1008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97"/>
                </a:lnSpc>
              </a:pPr>
              <a:r>
                <a:rPr lang="en-US" b="true" sz="456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744844" y="4769487"/>
            <a:ext cx="9150036" cy="15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b="true" sz="2299" spc="7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2299" spc="71" u="non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orth India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– BJP dominance continues </a:t>
            </a:r>
          </a:p>
          <a:p>
            <a:pPr algn="just">
              <a:lnSpc>
                <a:spcPts val="3104"/>
              </a:lnSpc>
            </a:pPr>
            <a:r>
              <a:rPr lang="en-US" b="true" sz="2299" spc="71" u="non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South India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– Opposition + regional parties strong</a:t>
            </a:r>
          </a:p>
          <a:p>
            <a:pPr algn="just">
              <a:lnSpc>
                <a:spcPts val="3104"/>
              </a:lnSpc>
            </a:pP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        DMK led INDIA alliance dominated</a:t>
            </a:r>
          </a:p>
          <a:p>
            <a:pPr algn="just">
              <a:lnSpc>
                <a:spcPts val="3104"/>
              </a:lnSpc>
            </a:pPr>
            <a:r>
              <a:rPr lang="en-US" b="true" sz="2299" spc="71" u="non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East &amp; Northeast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– mixed but NDA advantage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88727" y="6565799"/>
            <a:ext cx="862324" cy="862324"/>
            <a:chOff x="0" y="0"/>
            <a:chExt cx="1149765" cy="1149765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149765" cy="1149765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7F7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-257175"/>
                <a:ext cx="6604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4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31659" y="27753"/>
              <a:ext cx="486448" cy="1008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97"/>
                </a:lnSpc>
              </a:pPr>
              <a:r>
                <a:rPr lang="en-US" b="true" sz="456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744844" y="6556433"/>
            <a:ext cx="9150036" cy="78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any seats were decided by very small margins (under 20,000 votes)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44844" y="7380498"/>
            <a:ext cx="9150036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2024</a:t>
            </a: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saw more 3-way and 4-way contests</a:t>
            </a:r>
          </a:p>
          <a:p>
            <a:pPr algn="l" marL="496567" indent="-248284" lvl="1">
              <a:lnSpc>
                <a:spcPts val="3104"/>
              </a:lnSpc>
              <a:buFont typeface="Arial"/>
              <a:buChar char="•"/>
            </a:pPr>
            <a:r>
              <a:rPr lang="en-US" sz="2299" spc="71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BJP vs INDIA vs regional parties vs independents</a:t>
            </a:r>
          </a:p>
          <a:p>
            <a:pPr algn="just">
              <a:lnSpc>
                <a:spcPts val="3104"/>
              </a:lnSpc>
            </a:pPr>
          </a:p>
        </p:txBody>
      </p:sp>
      <p:grpSp>
        <p:nvGrpSpPr>
          <p:cNvPr name="Group 38" id="38"/>
          <p:cNvGrpSpPr/>
          <p:nvPr/>
        </p:nvGrpSpPr>
        <p:grpSpPr>
          <a:xfrm rot="0">
            <a:off x="6488727" y="8395976"/>
            <a:ext cx="862324" cy="862324"/>
            <a:chOff x="0" y="0"/>
            <a:chExt cx="1149765" cy="1149765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149765" cy="1149765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7F7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-257175"/>
                <a:ext cx="6604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4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31659" y="27753"/>
              <a:ext cx="486448" cy="1008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97"/>
                </a:lnSpc>
              </a:pPr>
              <a:r>
                <a:rPr lang="en-US" b="true" sz="456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593844" y="8473440"/>
            <a:ext cx="9150036" cy="78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BJP dominance in Urban/Semi-Urban Constituencies</a:t>
            </a:r>
          </a:p>
          <a:p>
            <a:pPr algn="just">
              <a:lnSpc>
                <a:spcPts val="3104"/>
              </a:lnSpc>
            </a:pPr>
            <a:r>
              <a:rPr lang="en-US" sz="2299" spc="7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Opposition Stronger in Rural + agrarian belts</a:t>
            </a:r>
          </a:p>
        </p:txBody>
      </p:sp>
      <p:sp>
        <p:nvSpPr>
          <p:cNvPr name="AutoShape 44" id="44"/>
          <p:cNvSpPr/>
          <p:nvPr/>
        </p:nvSpPr>
        <p:spPr>
          <a:xfrm>
            <a:off x="8898004" y="3168082"/>
            <a:ext cx="6541717" cy="1493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8898026" y="4706930"/>
            <a:ext cx="6541717" cy="1493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8898047" y="6493876"/>
            <a:ext cx="6541717" cy="1493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8898069" y="8371519"/>
            <a:ext cx="6541717" cy="1493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66761" y="3828140"/>
            <a:ext cx="12554479" cy="167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95"/>
              </a:lnSpc>
            </a:pPr>
            <a:r>
              <a:rPr lang="en-US" b="true" sz="11695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-3503507">
            <a:off x="-2356457" y="6564794"/>
            <a:ext cx="5968439" cy="2484763"/>
            <a:chOff x="0" y="0"/>
            <a:chExt cx="1571935" cy="6544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1935" cy="654423"/>
            </a:xfrm>
            <a:custGeom>
              <a:avLst/>
              <a:gdLst/>
              <a:ahLst/>
              <a:cxnLst/>
              <a:rect r="r" b="b" t="t" l="l"/>
              <a:pathLst>
                <a:path h="654423" w="1571935">
                  <a:moveTo>
                    <a:pt x="66154" y="0"/>
                  </a:moveTo>
                  <a:lnTo>
                    <a:pt x="1505780" y="0"/>
                  </a:lnTo>
                  <a:cubicBezTo>
                    <a:pt x="1523326" y="0"/>
                    <a:pt x="1540152" y="6970"/>
                    <a:pt x="1552558" y="19376"/>
                  </a:cubicBezTo>
                  <a:cubicBezTo>
                    <a:pt x="1564965" y="31782"/>
                    <a:pt x="1571935" y="48609"/>
                    <a:pt x="1571935" y="66154"/>
                  </a:cubicBezTo>
                  <a:lnTo>
                    <a:pt x="1571935" y="588269"/>
                  </a:lnTo>
                  <a:cubicBezTo>
                    <a:pt x="1571935" y="624805"/>
                    <a:pt x="1542316" y="654423"/>
                    <a:pt x="1505780" y="654423"/>
                  </a:cubicBezTo>
                  <a:lnTo>
                    <a:pt x="66154" y="654423"/>
                  </a:lnTo>
                  <a:cubicBezTo>
                    <a:pt x="29618" y="654423"/>
                    <a:pt x="0" y="624805"/>
                    <a:pt x="0" y="588269"/>
                  </a:cubicBezTo>
                  <a:lnTo>
                    <a:pt x="0" y="66154"/>
                  </a:lnTo>
                  <a:cubicBezTo>
                    <a:pt x="0" y="29618"/>
                    <a:pt x="29618" y="0"/>
                    <a:pt x="6615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1571935" cy="987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503507">
            <a:off x="14958997" y="1874234"/>
            <a:ext cx="6145518" cy="2741564"/>
            <a:chOff x="0" y="0"/>
            <a:chExt cx="1618573" cy="7220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8573" cy="722058"/>
            </a:xfrm>
            <a:custGeom>
              <a:avLst/>
              <a:gdLst/>
              <a:ahLst/>
              <a:cxnLst/>
              <a:rect r="r" b="b" t="t" l="l"/>
              <a:pathLst>
                <a:path h="722058" w="1618573">
                  <a:moveTo>
                    <a:pt x="64248" y="0"/>
                  </a:moveTo>
                  <a:lnTo>
                    <a:pt x="1554325" y="0"/>
                  </a:lnTo>
                  <a:cubicBezTo>
                    <a:pt x="1571364" y="0"/>
                    <a:pt x="1587706" y="6769"/>
                    <a:pt x="1599755" y="18818"/>
                  </a:cubicBezTo>
                  <a:cubicBezTo>
                    <a:pt x="1611804" y="30867"/>
                    <a:pt x="1618573" y="47208"/>
                    <a:pt x="1618573" y="64248"/>
                  </a:cubicBezTo>
                  <a:lnTo>
                    <a:pt x="1618573" y="657810"/>
                  </a:lnTo>
                  <a:cubicBezTo>
                    <a:pt x="1618573" y="674850"/>
                    <a:pt x="1611804" y="691191"/>
                    <a:pt x="1599755" y="703240"/>
                  </a:cubicBezTo>
                  <a:cubicBezTo>
                    <a:pt x="1587706" y="715289"/>
                    <a:pt x="1571364" y="722058"/>
                    <a:pt x="1554325" y="722058"/>
                  </a:cubicBezTo>
                  <a:lnTo>
                    <a:pt x="64248" y="722058"/>
                  </a:lnTo>
                  <a:cubicBezTo>
                    <a:pt x="47208" y="722058"/>
                    <a:pt x="30867" y="715289"/>
                    <a:pt x="18818" y="703240"/>
                  </a:cubicBezTo>
                  <a:cubicBezTo>
                    <a:pt x="6769" y="691191"/>
                    <a:pt x="0" y="674850"/>
                    <a:pt x="0" y="657810"/>
                  </a:cubicBezTo>
                  <a:lnTo>
                    <a:pt x="0" y="64248"/>
                  </a:lnTo>
                  <a:cubicBezTo>
                    <a:pt x="0" y="47208"/>
                    <a:pt x="6769" y="30867"/>
                    <a:pt x="18818" y="18818"/>
                  </a:cubicBezTo>
                  <a:cubicBezTo>
                    <a:pt x="30867" y="6769"/>
                    <a:pt x="47208" y="0"/>
                    <a:pt x="6424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1618573" cy="105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DAHJtX2SG5Y</dc:identifier>
  <dcterms:modified xsi:type="dcterms:W3CDTF">2011-08-01T06:04:30Z</dcterms:modified>
  <cp:revision>1</cp:revision>
  <dc:title>Power BI Project</dc:title>
</cp:coreProperties>
</file>